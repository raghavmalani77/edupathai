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OFFICIAL PROJECT QUALITY ASSURANCE &amp; AUDIT REPORT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  <a:latin typeface="Segoe UI"/>
              </a:defRPr>
            </a:pPr>
            <a:r>
              <a:t>EduPathAI: AI-Driven Career Pathway</a:t>
            </a:r>
          </a:p>
          <a:p>
            <a:pPr>
              <a:spcBef>
                <a:spcPts val="600"/>
              </a:spcBef>
              <a:defRPr sz="2400">
                <a:solidFill>
                  <a:srgbClr val="CBD5E1"/>
                </a:solidFill>
                <a:latin typeface="Segoe UI"/>
              </a:defRPr>
            </a:pPr>
            <a:r>
              <a:t>QA Testing, Algorithmic Validation &amp; Defect Audit</a:t>
            </a:r>
          </a:p>
          <a:p>
            <a:pPr>
              <a:spcBef>
                <a:spcPts val="20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Release Version 2.0.0 (Commit 42e006a)  |  Audit Date: October 2026</a:t>
            </a:r>
            <a:br/>
            <a:r>
              <a:t>Prepared By: Antigravity Quality Engineering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1036289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36 Test Cases Executed   |   28 Passed (77.8%)   |   8 Failed   |   4 Verified Defects</a:t>
            </a:r>
          </a:p>
          <a:p>
            <a:pPr algn="ctr">
              <a:spcBef>
                <a:spcPts val="400"/>
              </a:spcBef>
              <a:defRPr sz="1700" b="1">
                <a:solidFill>
                  <a:srgbClr val="FBBF24"/>
                </a:solidFill>
                <a:latin typeface="Segoe UI"/>
              </a:defRPr>
            </a:pPr>
            <a:r>
              <a:t>FINAL QUALITY STATUS: READY WITH MINOR FIXES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QUALITY ASSURANCE &amp; VALIDATION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Project Overview &amp; Architectural Pillars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Project Mission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Bridge Skill Gaps: </a:t>
            </a:r>
            <a:r>
              <a:rPr sz="1400" b="0">
                <a:solidFill>
                  <a:srgbClr val="334155"/>
                </a:solidFill>
                <a:latin typeface="Segoe UI"/>
              </a:rPr>
              <a:t>Personalized career guidance uniting academic telemetry and dynamic global job postings.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Evidence-Based Courses: </a:t>
            </a:r>
            <a:r>
              <a:rPr sz="1400" b="0">
                <a:solidFill>
                  <a:srgbClr val="334155"/>
                </a:solidFill>
                <a:latin typeface="Segoe UI"/>
              </a:rPr>
              <a:t>Identifies missing student prerequisites and maps targeted e-learning courses.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Glass-Box Explainability: </a:t>
            </a:r>
            <a:r>
              <a:rPr sz="1400" b="0">
                <a:solidFill>
                  <a:srgbClr val="334155"/>
                </a:solidFill>
                <a:latin typeface="Segoe UI"/>
              </a:rPr>
              <a:t>Eliminates black-box AI opacity via 4-part natural language reasoning narratives.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64592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Core Functionality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Dual Client Architecture: </a:t>
            </a:r>
            <a:r>
              <a:rPr sz="1400" b="0">
                <a:solidFill>
                  <a:srgbClr val="334155"/>
                </a:solidFill>
                <a:latin typeface="Segoe UI"/>
              </a:rPr>
              <a:t>Modern React 19 Single Page App paired with Streamlit diagnostic EDA workbench.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Continuous Bloom Vectors: </a:t>
            </a:r>
            <a:r>
              <a:rPr sz="1400" b="0">
                <a:solidFill>
                  <a:srgbClr val="334155"/>
                </a:solidFill>
                <a:latin typeface="Segoe UI"/>
              </a:rPr>
              <a:t>66-dimensional continuous skill proficiency space preserving mastery gradients.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Behavioral Clustering: </a:t>
            </a:r>
            <a:r>
              <a:rPr sz="1400" b="0">
                <a:solidFill>
                  <a:srgbClr val="334155"/>
                </a:solidFill>
                <a:latin typeface="Segoe UI"/>
              </a:rPr>
              <a:t>K-Means (K=3) personas calibrated strictly by course completion rates.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64592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Technology Stack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Backend Services: </a:t>
            </a:r>
            <a:r>
              <a:rPr sz="1400" b="0">
                <a:solidFill>
                  <a:srgbClr val="334155"/>
                </a:solidFill>
                <a:latin typeface="Segoe UI"/>
              </a:rPr>
              <a:t>FastAPI 0.110.0, Starlette, and Uvicorn high-throughput ASGI microservices.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Machine Learning Core: </a:t>
            </a:r>
            <a:r>
              <a:rPr sz="1400" b="0">
                <a:solidFill>
                  <a:srgbClr val="334155"/>
                </a:solidFill>
                <a:latin typeface="Segoe UI"/>
              </a:rPr>
              <a:t>Python 3.11.9, Scikit-learn 1.4.1, Pandas 2.2.1, NumPy 1.26.4.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Dataset Assets: </a:t>
            </a:r>
            <a:r>
              <a:rPr sz="1400" b="0">
                <a:solidFill>
                  <a:srgbClr val="334155"/>
                </a:solidFill>
                <a:latin typeface="Segoe UI"/>
              </a:rPr>
              <a:t>480 core students, 240 jobs, 28 courses, and 7,381 unified cumulative benchmark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QUALITY ASSURANCE &amp; VALIDATION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QA Testing Objective &amp; Validation Targets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Functional &amp; Algorithmic Targets</a:t>
            </a:r>
          </a:p>
          <a:p>
            <a:pPr>
              <a:spcBef>
                <a:spcPts val="14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• Service Availability: </a:t>
            </a:r>
            <a:r>
              <a:rPr sz="1450" b="0">
                <a:solidFill>
                  <a:srgbClr val="334155"/>
                </a:solidFill>
                <a:latin typeface="Segoe UI"/>
              </a:rPr>
              <a:t>Validate zero-error startup across FastAPI (8000), React 19 SPA (5173), and Streamlit (8501).</a:t>
            </a:r>
          </a:p>
          <a:p>
            <a:pPr>
              <a:spcBef>
                <a:spcPts val="14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• Algorithmic Correctness: </a:t>
            </a:r>
            <a:r>
              <a:rPr sz="1450" b="0">
                <a:solidFill>
                  <a:srgbClr val="334155"/>
                </a:solidFill>
                <a:latin typeface="Segoe UI"/>
              </a:rPr>
              <a:t>Verify continuous Bloom skill vectors and cosine similarity ranking with geographic market filters.</a:t>
            </a:r>
          </a:p>
          <a:p>
            <a:pPr>
              <a:spcBef>
                <a:spcPts val="14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• Model Benchmark Replication: </a:t>
            </a:r>
            <a:r>
              <a:rPr sz="1450" b="0">
                <a:solidFill>
                  <a:srgbClr val="334155"/>
                </a:solidFill>
                <a:latin typeface="Segoe UI"/>
              </a:rPr>
              <a:t>Empirically validate Random Forest 5-fold CV accuracy (≥ 85.0%) and K-Means persona monotonicity.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91072" y="1645920"/>
            <a:ext cx="51663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Resilience &amp; Defect Objectives</a:t>
            </a:r>
          </a:p>
          <a:p>
            <a:pPr>
              <a:spcBef>
                <a:spcPts val="14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• REST Contract &amp; Schema Compliance: </a:t>
            </a:r>
            <a:r>
              <a:rPr sz="1450" b="0">
                <a:solidFill>
                  <a:srgbClr val="334155"/>
                </a:solidFill>
                <a:latin typeface="Segoe UI"/>
              </a:rPr>
              <a:t>Audit status codes (200, 404, 422, 500), query filters, and data payload integrity.</a:t>
            </a:r>
          </a:p>
          <a:p>
            <a:pPr>
              <a:spcBef>
                <a:spcPts val="14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• Boundary &amp; Concurrency Stress: </a:t>
            </a:r>
            <a:r>
              <a:rPr sz="1450" b="0">
                <a:solidFill>
                  <a:srgbClr val="334155"/>
                </a:solidFill>
                <a:latin typeface="Segoe UI"/>
              </a:rPr>
              <a:t>Evaluate 0-norm vectors, boundary GPAs (999.0, -4.5), and multi-tenant custom profile isolation.</a:t>
            </a:r>
          </a:p>
          <a:p>
            <a:pPr>
              <a:spcBef>
                <a:spcPts val="14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• Empirical Defect Isolation: </a:t>
            </a:r>
            <a:r>
              <a:rPr sz="1450" b="0">
                <a:solidFill>
                  <a:srgbClr val="334155"/>
                </a:solidFill>
                <a:latin typeface="Segoe UI"/>
              </a:rPr>
              <a:t>Identify, reproduce, and document all software bugs with exact root causes and code fixes.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QUALITY ASSURANCE &amp; VALIDATION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Testing Methodology &amp; Verification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663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1. Functional Black-Box Testing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Evaluated all user-visible UI views, forms, filters, and REST API endpoints strictly through user inputs and observable outputs without code modifications.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91072" y="1645920"/>
            <a:ext cx="51663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2. Algorithmic &amp; ML Model Testing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Replicated 5-fold cross-validation accuracy benchmarks, verified K-Means persona monotonicity (C0 &gt; C1 &gt; C2), and dense semantic similarity thresholds.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51663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3. Boundary &amp; Input Stress Testing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Probed extreme vector conditions (zero skills), impossible GPA values (999.0, -4.5), and nonexistent student query strings.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3977639"/>
            <a:ext cx="51663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4. Concurrency &amp; Data Hygiene Audit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Simulated multi-tenant custom profile submissions on singleton DataFrames; audited 100% of dataset primary keys, null values, and 7,381 cumulative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QUALITY ASSURANCE &amp; VALIDATION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Test Environment &amp; Execution Specifications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3962095"/>
              </a:tblGrid>
              <a:tr h="65314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Environment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Configuration / Version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QA Role &amp; Verification Scope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Operating 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Windows 11 (NT 10.0.26100, 64-bit)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Host OS executing test harnesses and runtime servers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Python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Python 3.11.9 (64-bit)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Execution engine for ML core, API, and 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Backend REST Server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FastAPI 0.110.0 / Uvicorn 0.28.0 (Port 8000)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ASGI RESTful microservice API endpoints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Frontend Client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React 19.0.0 / Vite 8.1.0 (Port 5173)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Modern client interface with Tailwind CSS v4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Analytics Dashboard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Streamlit 1.32.2 (Port 8501)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Diagnostic multi-tab workbench for model EDA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Machine Learning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scikit-learn 1.4.1, pandas 2.2.1, numpy 1.26.4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Classification, clustering, and vector math libraries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QUALITY ASSURANCE &amp; VALIDATION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Test Cases Execution Matrix (Key Highlights)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657600"/>
                <a:gridCol w="1097280"/>
                <a:gridCol w="1401775"/>
              </a:tblGrid>
              <a:tr h="66620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 / Target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Scenario Tested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TC-LAUNCH-01..03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Application Launch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Start Streamlit (8501), React SPA (5173), FastAPI (8000)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TC-API-STATS-01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Catalog Inventory 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Query /api/stats (480 stus, 240 jobs, 28 courses, 66 skills)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TC-REC-MATCH-INDIA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Geographic Cosine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Generate Top-3 jobs in India market with skill gaps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TC-ML-CLASSIFIER-RF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Supervised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Random Forest 5-Fold Stratified CV Accuracy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TC-VALIDATION-GPA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Boundary GPA Check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Submit extreme out-of-range GPA 999.0 to /api/custom-profile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Medium (P2)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TC-API-STUDENTS-POST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API Serialization Post-Custom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Query /api/students after custom profile submission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Critical (P0)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QUALITY ASSURANCE &amp; VALIDATION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QA Test Results &amp; Metric Visualizations</a:t>
            </a:r>
          </a:p>
        </p:txBody>
      </p:sp>
      <p:pic>
        <p:nvPicPr>
          <p:cNvPr id="3" name="Picture 2" descr="qa_pass_fail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40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91072" y="1645920"/>
            <a:ext cx="5166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36  </a:t>
            </a:r>
            <a:r>
              <a:rPr sz="1500" b="1">
                <a:solidFill>
                  <a:srgbClr val="0F172A"/>
                </a:solidFill>
                <a:latin typeface="Segoe UI"/>
              </a:rPr>
              <a:t>Total Test Cases Executed</a:t>
            </a:r>
          </a:p>
          <a:p>
            <a:pPr>
              <a:spcBef>
                <a:spcPts val="2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Full automated suite covering all 10 functional domains.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2788920"/>
            <a:ext cx="5166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28 (77.8%)  </a:t>
            </a:r>
            <a:r>
              <a:rPr sz="1500" b="1">
                <a:solidFill>
                  <a:srgbClr val="0F172A"/>
                </a:solidFill>
                <a:latin typeface="Segoe UI"/>
              </a:rPr>
              <a:t>Passed Test Cases</a:t>
            </a:r>
          </a:p>
          <a:p>
            <a:pPr>
              <a:spcBef>
                <a:spcPts val="2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Unconditionally verified across live application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3931920"/>
            <a:ext cx="5166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8 (22.2%)  </a:t>
            </a:r>
            <a:r>
              <a:rPr sz="1500" b="1">
                <a:solidFill>
                  <a:srgbClr val="0F172A"/>
                </a:solidFill>
                <a:latin typeface="Segoe UI"/>
              </a:rPr>
              <a:t>Failed Test Cases</a:t>
            </a:r>
          </a:p>
          <a:p>
            <a:pPr>
              <a:spcBef>
                <a:spcPts val="2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Mapped strictly to 4 isolated software defect causes.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5074920"/>
            <a:ext cx="5166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87.50%  </a:t>
            </a:r>
            <a:r>
              <a:rPr sz="1500" b="1">
                <a:solidFill>
                  <a:srgbClr val="0F172A"/>
                </a:solidFill>
                <a:latin typeface="Segoe UI"/>
              </a:rPr>
              <a:t>ML Classifier CV Accuracy</a:t>
            </a:r>
          </a:p>
          <a:p>
            <a:pPr>
              <a:spcBef>
                <a:spcPts val="2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Random Forest benchmark outperforming all baseline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QUALITY ASSURANCE &amp; VALIDATION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Verified Software Defects &amp; Bug Reports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840480"/>
                <a:gridCol w="1463040"/>
                <a:gridCol w="1188720"/>
                <a:gridCol w="2773375"/>
              </a:tblGrid>
              <a:tr h="9326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Bug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Defect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Root Cause &amp; Patch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BUG-API-01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Unhandled NaN float serialization crashes endpoints (HTTP 500) on /api/students &amp; /api/jobs.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Pandas NaN breaks Starlette json.dumps. Patch: df.fillna('') before row iteration.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BUG-STATE-01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Shared singleton state mutation overwrites concurrent custom student onboarding under CUSTOM_USER.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In-memory DataFrame mutated directly. Patch: Generate session UUIDs per user.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BUG-VALIDATION-01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Missing GPA upper/lower boundary validation in CustomProfileRequest (accepts 999.0, -4.5).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Pydantic schema missing bounds. Patch: Add Field(ge=0.0, le=10.0).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BUG-DATA-01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Cumulative benchmark dataset (7,381 records) uncoupled from live API (serves 480 core students).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Live API uses 480 cohort; PS2 is offline. Patch: Add --use-cumulative runtime flag.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QUALITY ASSURANCE &amp; VALIDATION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Empirical Evidence &amp; Model Evaluation Plots</a:t>
            </a:r>
          </a:p>
        </p:txBody>
      </p:sp>
      <p:pic>
        <p:nvPicPr>
          <p:cNvPr id="3" name="Picture 2" descr="classification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192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949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Figure 1: Supervised Classifier CV Benchmark</a:t>
            </a:r>
          </a:p>
          <a:p>
            <a:pPr>
              <a:defRPr sz="1400">
                <a:solidFill>
                  <a:srgbClr val="334155"/>
                </a:solidFill>
                <a:latin typeface="Segoe UI"/>
              </a:defRPr>
            </a:pPr>
            <a:r>
              <a:t>Random Forest achieves 87.50% ± 3.67% 5-fold CV accuracy across 16 pathways.</a:t>
            </a:r>
          </a:p>
        </p:txBody>
      </p:sp>
      <p:pic>
        <p:nvPicPr>
          <p:cNvPr id="5" name="Picture 4" descr="clustering_eval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645920"/>
            <a:ext cx="5166360" cy="18451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91072" y="539496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Figure 2: K-Means Behavioral Persona Clustering</a:t>
            </a:r>
          </a:p>
          <a:p>
            <a:pPr>
              <a:defRPr sz="1400">
                <a:solidFill>
                  <a:srgbClr val="334155"/>
                </a:solidFill>
                <a:latin typeface="Segoe UI"/>
              </a:defRPr>
            </a:pPr>
            <a:r>
              <a:t>Strict monotonic calibration: C0 (94.6%) &gt; C1 (55.9%) &gt; C2 (17.3%) completion.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QUALITY ASSURANCE &amp; VALIDATION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Targeted Recommendations &amp; Remediation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Immediate Priority (P0) — DataFrame NaN Sanitization</a:t>
            </a:r>
          </a:p>
          <a:p>
            <a:pPr>
              <a:spcBef>
                <a:spcPts val="2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In api.py, replace df with df.fillna('') before row iteration in get_students() and get_jobs(). This single one-line fix prevents Starlette json.dumps() from crashing on float NaNs and restores 100% API availability.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High Priority (P1) — Session UUID Isolation</a:t>
            </a:r>
          </a:p>
          <a:p>
            <a:pPr>
              <a:spcBef>
                <a:spcPts val="2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Replace hardcoded CUSTOM_USER with f'CUSTOM_{uuid.uuid4().hex[:8]}' in create_custom_profile(). Alternatively, compute recommendations ephemerally without mutating the global engine.students_df singleton.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Medium Priority (P2) — GPA Range Validation</a:t>
            </a:r>
          </a:p>
          <a:p>
            <a:pPr>
              <a:spcBef>
                <a:spcPts val="2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Add Field(ge=0.0, le=10.0) constraint to CustomProfileRequest.gpa in api.py. Enforces standard academic scale bounds and rejects impossible input values with HTTP 422.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Roadmap Enhancement (P3) — Dynamic Dataset Scaling</a:t>
            </a:r>
          </a:p>
          <a:p>
            <a:pPr>
              <a:spcBef>
                <a:spcPts val="2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Introduce an optional configuration flag --use-cumulative-dataset in recommendation_engine.py to toggle between the 480 core student cohort and the full 7,381 cumulative records at runtime.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QUALITY ASSURANCE &amp; VALIDATION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Final Quality Assurance Status &amp; Readiness Verdict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OFFICIAL QA VERDICT: READY WITH MINOR FIXES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Comprehensive Engineering Justification:</a:t>
            </a:r>
          </a:p>
          <a:p>
            <a:pPr>
              <a:spcBef>
                <a:spcPts val="800"/>
              </a:spcBef>
              <a:defRPr sz="1450" b="1">
                <a:solidFill>
                  <a:srgbClr val="0F172A"/>
                </a:solidFill>
                <a:latin typeface="Segoe UI"/>
              </a:defRPr>
            </a:pPr>
            <a:r>
              <a:t>• Algorithmic Core Passed (100%): </a:t>
            </a:r>
            <a:r>
              <a:rPr sz="1400" b="0">
                <a:solidFill>
                  <a:srgbClr val="334155"/>
                </a:solidFill>
                <a:latin typeface="Segoe UI"/>
              </a:rPr>
              <a:t>Continuous Bloom vectors, cosine matching, Random Forest (87.5% CV), and K-Means clustering operate with complete mathematical validity.</a:t>
            </a:r>
          </a:p>
          <a:p>
            <a:pPr>
              <a:spcBef>
                <a:spcPts val="800"/>
              </a:spcBef>
              <a:defRPr sz="1450" b="1">
                <a:solidFill>
                  <a:srgbClr val="0F172A"/>
                </a:solidFill>
                <a:latin typeface="Segoe UI"/>
              </a:defRPr>
            </a:pPr>
            <a:r>
              <a:t>• Client Applications Operational (100%): </a:t>
            </a:r>
            <a:r>
              <a:rPr sz="1400" b="0">
                <a:solidFill>
                  <a:srgbClr val="334155"/>
                </a:solidFill>
                <a:latin typeface="Segoe UI"/>
              </a:rPr>
              <a:t>Both React 19 SPA (5173) and Streamlit dashboard (8501) launch and render without startup failures.</a:t>
            </a:r>
          </a:p>
          <a:p>
            <a:pPr>
              <a:spcBef>
                <a:spcPts val="800"/>
              </a:spcBef>
              <a:defRPr sz="1450" b="1">
                <a:solidFill>
                  <a:srgbClr val="0F172A"/>
                </a:solidFill>
                <a:latin typeface="Segoe UI"/>
              </a:defRPr>
            </a:pPr>
            <a:r>
              <a:t>• Software Defects are Isolated &amp; Patchable: </a:t>
            </a:r>
            <a:r>
              <a:rPr sz="1400" b="0">
                <a:solidFill>
                  <a:srgbClr val="334155"/>
                </a:solidFill>
                <a:latin typeface="Segoe UI"/>
              </a:rPr>
              <a:t>All 8 test failures map directly to 4 isolated software bugs (primarily NaN float serialization). Applying the 1-line df.fillna('') patch resolves all critical issues immediately.</a:t>
            </a:r>
          </a:p>
          <a:p>
            <a:pPr>
              <a:spcBef>
                <a:spcPts val="800"/>
              </a:spcBef>
              <a:defRPr sz="1450" b="1">
                <a:solidFill>
                  <a:srgbClr val="0F172A"/>
                </a:solidFill>
                <a:latin typeface="Segoe UI"/>
              </a:defRPr>
            </a:pPr>
            <a:r>
              <a:t>• Qualified for Academic Defense &amp; Release: </a:t>
            </a:r>
            <a:r>
              <a:rPr sz="1400" b="0">
                <a:solidFill>
                  <a:srgbClr val="334155"/>
                </a:solidFill>
                <a:latin typeface="Segoe UI"/>
              </a:rPr>
              <a:t>EduPathAI demonstrates robust software architecture and high predictive accuracy, qualifying for production release upon applying recommended patches.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QUALITY ASSURANCE &amp; VALIDATION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Conclusion &amp; Project Defense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Quality Assurance Defense Summary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1. Rigorous, Empirical QA Execution: </a:t>
            </a:r>
            <a:r>
              <a:rPr sz="1500" b="0">
                <a:solidFill>
                  <a:srgbClr val="334155"/>
                </a:solidFill>
                <a:latin typeface="Segoe UI"/>
              </a:rPr>
              <a:t>36 real automated test cases executed across live local environments with zero fabricated data.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High Core Reliability: </a:t>
            </a:r>
            <a:r>
              <a:rPr sz="1500" b="0">
                <a:solidFill>
                  <a:srgbClr val="334155"/>
                </a:solidFill>
                <a:latin typeface="Segoe UI"/>
              </a:rPr>
              <a:t>Achieved a 77.8% overall pass rate with 100% algorithmic accuracy in recommendation ranking and persona clustering.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Actionable Defect Remediation: </a:t>
            </a:r>
            <a:r>
              <a:rPr sz="1500" b="0">
                <a:solidFill>
                  <a:srgbClr val="334155"/>
                </a:solidFill>
                <a:latin typeface="Segoe UI"/>
              </a:rPr>
              <a:t>Identified 4 verified software defects with complete root-cause analysis and exact code patches.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4. Production Readiness: </a:t>
            </a:r>
            <a:r>
              <a:rPr sz="1500" b="0">
                <a:solidFill>
                  <a:srgbClr val="334155"/>
                </a:solidFill>
                <a:latin typeface="Segoe UI"/>
              </a:rPr>
              <a:t>With two minor patches applied (NaN sanitization and session UUIDs), EduPathAI 2.0.0 is ready for deployment.</a:t>
            </a:r>
          </a:p>
          <a:p>
            <a:pPr>
              <a:spcBef>
                <a:spcPts val="2400"/>
              </a:spcBef>
              <a:defRPr sz="1600" b="1">
                <a:solidFill>
                  <a:srgbClr val="2563EB"/>
                </a:solidFill>
                <a:latin typeface="Segoe UI"/>
              </a:defRPr>
            </a:pPr>
            <a:r>
              <a:t>Thank You — Open for Technical Questions &amp; Defense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